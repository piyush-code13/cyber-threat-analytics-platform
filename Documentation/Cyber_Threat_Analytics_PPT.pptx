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58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6F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F5F6FA"/>
                </a:solidFill>
                <a:latin typeface="Arial"/>
              </a:rPr>
              <a:t>Incident Volume by State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6E0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6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Ohio</c:v>
                </c:pt>
                <c:pt idx="1">
                  <c:v>Georgia</c:v>
                </c:pt>
                <c:pt idx="2">
                  <c:v>Texas</c:v>
                </c:pt>
                <c:pt idx="3">
                  <c:v>Michigan</c:v>
                </c:pt>
                <c:pt idx="4">
                  <c:v>Illinois</c:v>
                </c:pt>
                <c:pt idx="5">
                  <c:v>N. Carolina</c:v>
                </c:pt>
                <c:pt idx="6">
                  <c:v>New York</c:v>
                </c:pt>
                <c:pt idx="7">
                  <c:v>Virginia</c:v>
                </c:pt>
                <c:pt idx="8">
                  <c:v>Florida</c:v>
                </c:pt>
                <c:pt idx="9">
                  <c:v>Pennsylvania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220</c:v>
                </c:pt>
                <c:pt idx="1">
                  <c:v>152</c:v>
                </c:pt>
                <c:pt idx="2">
                  <c:v>78</c:v>
                </c:pt>
                <c:pt idx="3">
                  <c:v>70</c:v>
                </c:pt>
                <c:pt idx="4">
                  <c:v>64</c:v>
                </c:pt>
                <c:pt idx="5">
                  <c:v>60</c:v>
                </c:pt>
                <c:pt idx="6">
                  <c:v>56</c:v>
                </c:pt>
                <c:pt idx="7">
                  <c:v>52</c:v>
                </c:pt>
                <c:pt idx="8">
                  <c:v>49</c:v>
                </c:pt>
                <c:pt idx="9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57-40E4-9B77-B191B43390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2385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0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3238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32385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0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4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4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6F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5F6FA"/>
                </a:solidFill>
                <a:latin typeface="Arial"/>
              </a:rPr>
              <a:t>90-Day Incident Volume (recent window)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 Volume</c:v>
                </c:pt>
              </c:strCache>
            </c:strRef>
          </c:tx>
          <c:spPr>
            <a:ln w="31750" cap="flat">
              <a:solidFill>
                <a:srgbClr val="36E0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6E0C4"/>
              </a:solidFill>
              <a:ln w="9525" cap="flat">
                <a:solidFill>
                  <a:srgbClr val="36E0C4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27</c:v>
                </c:pt>
                <c:pt idx="1">
                  <c:v>5</c:v>
                </c:pt>
                <c:pt idx="2">
                  <c:v>35</c:v>
                </c:pt>
                <c:pt idx="3">
                  <c:v>21</c:v>
                </c:pt>
                <c:pt idx="4">
                  <c:v>9</c:v>
                </c:pt>
                <c:pt idx="5">
                  <c:v>41</c:v>
                </c:pt>
                <c:pt idx="6">
                  <c:v>38</c:v>
                </c:pt>
                <c:pt idx="7">
                  <c:v>8</c:v>
                </c:pt>
                <c:pt idx="8">
                  <c:v>55</c:v>
                </c:pt>
                <c:pt idx="9">
                  <c:v>38</c:v>
                </c:pt>
                <c:pt idx="10">
                  <c:v>34</c:v>
                </c:pt>
                <c:pt idx="11">
                  <c:v>26</c:v>
                </c:pt>
                <c:pt idx="12">
                  <c:v>27</c:v>
                </c:pt>
                <c:pt idx="13">
                  <c:v>18</c:v>
                </c:pt>
                <c:pt idx="14">
                  <c:v>46</c:v>
                </c:pt>
                <c:pt idx="15">
                  <c:v>22</c:v>
                </c:pt>
                <c:pt idx="16">
                  <c:v>14</c:v>
                </c:pt>
                <c:pt idx="17">
                  <c:v>26</c:v>
                </c:pt>
                <c:pt idx="18">
                  <c:v>30</c:v>
                </c:pt>
                <c:pt idx="19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6F-463F-A7DC-EAB0B2E79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23850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076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3238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32385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0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4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4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99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132320" y="-1463040"/>
            <a:ext cx="5852160" cy="5852160"/>
          </a:xfrm>
          <a:prstGeom prst="ellipse">
            <a:avLst/>
          </a:prstGeom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822960"/>
            <a:ext cx="4572000" cy="4572000"/>
          </a:xfrm>
          <a:prstGeom prst="ellipse">
            <a:avLst/>
          </a:prstGeom>
          <a:ln w="12700">
            <a:solidFill>
              <a:srgbClr val="36E0C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182880"/>
            <a:ext cx="3291840" cy="3291840"/>
          </a:xfrm>
          <a:prstGeom prst="ellipse">
            <a:avLst/>
          </a:prstGeom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457200"/>
            <a:ext cx="2011680" cy="2011680"/>
          </a:xfrm>
          <a:prstGeom prst="ellipse">
            <a:avLst/>
          </a:prstGeom>
          <a:ln w="12700">
            <a:solidFill>
              <a:srgbClr val="36E0C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273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ARCHITECTURE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fragmented incident data into a single, predictive operational intelligence engine.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440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5440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 incident records unified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297680" y="5440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26280" y="5440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reporting sources standardized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0" y="5440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01000" y="54406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 of cross-filterable activity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Analytical Lens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745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Siloed Reality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09728" cy="109728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3957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109728" cy="109728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962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(10 facilities)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675888"/>
            <a:ext cx="109728" cy="109728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35295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Data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242816"/>
            <a:ext cx="109728" cy="109728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096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 raw records spanning independent systems, with no shared structure.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8745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Unified Vision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675120" y="2834640"/>
            <a:ext cx="548640" cy="54864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456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42048" y="3108960"/>
            <a:ext cx="621792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82128" y="2834640"/>
            <a:ext cx="548640" cy="54864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25" name="Text 23"/>
          <p:cNvSpPr/>
          <p:nvPr/>
        </p:nvSpPr>
        <p:spPr>
          <a:xfrm>
            <a:off x="788212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62088" y="3456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62088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(UX)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49056" y="3108960"/>
            <a:ext cx="621792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89136" y="2834640"/>
            <a:ext cx="548640" cy="54864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30" name="Text 28"/>
          <p:cNvSpPr/>
          <p:nvPr/>
        </p:nvSpPr>
        <p:spPr>
          <a:xfrm>
            <a:off x="9089136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69096" y="3456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69096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56064" y="3108960"/>
            <a:ext cx="621792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296144" y="2834640"/>
            <a:ext cx="548640" cy="54864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35" name="Text 33"/>
          <p:cNvSpPr/>
          <p:nvPr/>
        </p:nvSpPr>
        <p:spPr>
          <a:xfrm>
            <a:off x="1029614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976104" y="3456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76104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(Strategy)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75120" y="4572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centralized engine capable of identifying emerging threats and optimizing resource allocation.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68680" y="544068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distributed, unstandardized operational logs to a single centralized intelligence engine that identifies emerging threats and optimizes resource allocation.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&amp; Architecture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3703320" y="3794760"/>
            <a:ext cx="0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3794760"/>
            <a:ext cx="1066854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3794760"/>
            <a:ext cx="0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3794760"/>
            <a:ext cx="0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3794760"/>
            <a:ext cx="0" cy="1066854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3794760"/>
            <a:ext cx="0" cy="150876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3794760"/>
            <a:ext cx="1066854" cy="1066854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0540" y="3794760"/>
            <a:ext cx="2628900" cy="0"/>
          </a:xfrm>
          <a:prstGeom prst="line">
            <a:avLst/>
          </a:prstGeom>
          <a:noFill/>
          <a:ln w="25400">
            <a:solidFill>
              <a:srgbClr val="FF8A3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457700" y="3410712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incident_id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8980" y="1851660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8980" y="2157984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26080" y="15590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35834" y="2293566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5834" y="2599890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92934" y="321711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02126" y="2293566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02126" y="2599890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59226" y="321711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dim_organization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760220" y="3360420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60220" y="3666744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dim_asset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02126" y="4427274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02126" y="4733598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859226" y="535081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dim_source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8980" y="4869180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8980" y="5175504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26080" y="57927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dim_severity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35834" y="4427274"/>
            <a:ext cx="868680" cy="86868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35834" y="4733598"/>
            <a:ext cx="868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992934" y="535081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dim_threat_type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086100" y="3177540"/>
            <a:ext cx="1234440" cy="1234440"/>
          </a:xfrm>
          <a:prstGeom prst="ellipse">
            <a:avLst/>
          </a:prstGeom>
          <a:solidFill>
            <a:srgbClr val="FF8A3D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86100" y="31775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69380" y="3314700"/>
            <a:ext cx="960120" cy="960120"/>
          </a:xfrm>
          <a:prstGeom prst="ellipse">
            <a:avLst/>
          </a:prstGeom>
          <a:solidFill>
            <a:srgbClr val="10121A"/>
          </a:solidFill>
          <a:ln w="25400">
            <a:solidFill>
              <a:srgbClr val="FF8A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69380" y="33147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38160" y="169164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Summary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12480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incident fact table, seven descriptive dimensions.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3200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1:1 relationship links every incident to its response record.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3977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8 distinct reporting sources into a single source of truth.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12480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cross-filtering across 90 days of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Operational KPIs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82296" cy="1577340"/>
          </a:xfrm>
          <a:prstGeom prst="rect">
            <a:avLst/>
          </a:prstGeom>
          <a:solidFill>
            <a:srgbClr val="36E0C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5623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261061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60020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7304" y="1600200"/>
            <a:ext cx="82296" cy="15773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4657344" y="185623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57344" y="261061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5968" y="160020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5968" y="1600200"/>
            <a:ext cx="82296" cy="1577340"/>
          </a:xfrm>
          <a:prstGeom prst="rect">
            <a:avLst/>
          </a:prstGeom>
          <a:solidFill>
            <a:srgbClr val="36E0C4"/>
          </a:solidFill>
          <a:ln/>
        </p:spPr>
      </p:sp>
      <p:sp>
        <p:nvSpPr>
          <p:cNvPr id="16" name="Text 14"/>
          <p:cNvSpPr/>
          <p:nvPr/>
        </p:nvSpPr>
        <p:spPr>
          <a:xfrm>
            <a:off x="8446008" y="185623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10.39 min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46008" y="261061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5186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51860"/>
            <a:ext cx="82296" cy="15773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0789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68680" y="44622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Threat Severity Index (Medium band)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37304" y="345186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37304" y="3451860"/>
            <a:ext cx="82296" cy="1577340"/>
          </a:xfrm>
          <a:prstGeom prst="rect">
            <a:avLst/>
          </a:prstGeom>
          <a:solidFill>
            <a:srgbClr val="FF5D5D"/>
          </a:solidFill>
          <a:ln/>
        </p:spPr>
      </p:sp>
      <p:sp>
        <p:nvSpPr>
          <p:cNvPr id="24" name="Text 22"/>
          <p:cNvSpPr/>
          <p:nvPr/>
        </p:nvSpPr>
        <p:spPr>
          <a:xfrm>
            <a:off x="4657344" y="370789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57344" y="44622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Incidents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5968" y="3451860"/>
            <a:ext cx="3514344" cy="1577340"/>
          </a:xfrm>
          <a:prstGeom prst="roundRect">
            <a:avLst>
              <a:gd name="adj" fmla="val 579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25968" y="3451860"/>
            <a:ext cx="82296" cy="1577340"/>
          </a:xfrm>
          <a:prstGeom prst="rect">
            <a:avLst/>
          </a:prstGeom>
          <a:solidFill>
            <a:srgbClr val="FF8A3D"/>
          </a:solidFill>
          <a:ln/>
        </p:spPr>
      </p:sp>
      <p:sp>
        <p:nvSpPr>
          <p:cNvPr id="28" name="Text 26"/>
          <p:cNvSpPr/>
          <p:nvPr/>
        </p:nvSpPr>
        <p:spPr>
          <a:xfrm>
            <a:off x="8446008" y="3707892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316 / 37.2%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446008" y="4462272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 Backlog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34924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incident volume with strong overall SLA compliance — but a 37.2% open backlog and 67 critical incidents represent immediate operational friction.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User Experience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356616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Drill-Through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from a macro regional view directly into the City Details page for specific incident logs and response metrics.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1691640"/>
            <a:ext cx="3483864" cy="356616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11680"/>
            <a:ext cx="502920" cy="50292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Tooltips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72584" y="3200400"/>
            <a:ext cx="2843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deep contextual data — asset criticality, precise weather conditions — on hover, without cluttering the main analytical view.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483864" cy="356616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011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764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274320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Cross-Filtering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76488" y="320040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threat category instantly updates: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76488" y="3749040"/>
            <a:ext cx="2843784" cy="365760"/>
          </a:xfrm>
          <a:prstGeom prst="roundRect">
            <a:avLst>
              <a:gd name="adj" fmla="val 17500"/>
            </a:avLst>
          </a:prstGeom>
          <a:solidFill>
            <a:srgbClr val="222738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6488" y="37490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Metrics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76488" y="4206240"/>
            <a:ext cx="2843784" cy="365760"/>
          </a:xfrm>
          <a:prstGeom prst="roundRect">
            <a:avLst>
              <a:gd name="adj" fmla="val 17500"/>
            </a:avLst>
          </a:prstGeom>
          <a:solidFill>
            <a:srgbClr val="222738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42062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Maps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76488" y="4663440"/>
            <a:ext cx="2843784" cy="365760"/>
          </a:xfrm>
          <a:prstGeom prst="roundRect">
            <a:avLst>
              <a:gd name="adj" fmla="val 17500"/>
            </a:avLst>
          </a:prstGeom>
          <a:solidFill>
            <a:srgbClr val="222738"/>
          </a:solidFill>
          <a:ln w="9525">
            <a:solidFill>
              <a:srgbClr val="FF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6488" y="466344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INCIDENTS HAPPEN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Intelligence &amp; Risk</a:t>
            </a:r>
            <a:endParaRPr lang="en-US" sz="2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54480"/>
          <a:ext cx="6492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554480"/>
            <a:ext cx="4434840" cy="1051560"/>
          </a:xfrm>
          <a:prstGeom prst="roundRect">
            <a:avLst>
              <a:gd name="adj" fmla="val 8696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5544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
</a:t>
            </a:r>
            <a:r>
              <a:rPr lang="en-US" sz="11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+ Georgia account for 372 of 850 incidents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7223760" y="2788920"/>
            <a:ext cx="4434840" cy="1234440"/>
          </a:xfrm>
          <a:prstGeom prst="roundRect">
            <a:avLst>
              <a:gd name="adj" fmla="val 740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Cincinnati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 </a:t>
            </a:r>
            <a:r>
              <a:rPr lang="en-US" sz="15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Severity  </a:t>
            </a: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23760" y="4206240"/>
            <a:ext cx="4434840" cy="1234440"/>
          </a:xfrm>
          <a:prstGeom prst="roundRect">
            <a:avLst>
              <a:gd name="adj" fmla="val 7407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Savannah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0" y="4754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 </a:t>
            </a:r>
            <a:r>
              <a:rPr lang="en-US" sz="15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0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Severity  </a:t>
            </a: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52.46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" y="56235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driven by severity, not just volume. Cincinnati and Savannah carry the highest composite risk scores despite lower raw incident counts.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INCIDENT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&amp; Behavioral Analytics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14344" cy="3520440"/>
          </a:xfrm>
          <a:prstGeom prst="roundRect">
            <a:avLst>
              <a:gd name="adj" fmla="val 260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3852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2157984"/>
            <a:ext cx="2417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37304" y="1645920"/>
            <a:ext cx="3514344" cy="3520440"/>
          </a:xfrm>
          <a:prstGeom prst="roundRect">
            <a:avLst>
              <a:gd name="adj" fmla="val 260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13" name="Text 11"/>
          <p:cNvSpPr/>
          <p:nvPr/>
        </p:nvSpPr>
        <p:spPr>
          <a:xfrm>
            <a:off x="461162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05984" y="193852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05984" y="2157984"/>
            <a:ext cx="2417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Anomaly Spikes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25968" y="1645920"/>
            <a:ext cx="3514344" cy="3520440"/>
          </a:xfrm>
          <a:prstGeom prst="roundRect">
            <a:avLst>
              <a:gd name="adj" fmla="val 260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0288" y="1920240"/>
            <a:ext cx="457200" cy="45720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18" name="Text 16"/>
          <p:cNvSpPr/>
          <p:nvPr/>
        </p:nvSpPr>
        <p:spPr>
          <a:xfrm>
            <a:off x="84002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4648" y="1938528"/>
            <a:ext cx="2417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94648" y="2157984"/>
            <a:ext cx="2417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Triage Scale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278892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4400" y="329184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79476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" y="429768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3064" y="2834640"/>
            <a:ext cx="2782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day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03064" y="3337560"/>
            <a:ext cx="2782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9.4 average — 2.2 z-score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3064" y="3840480"/>
            <a:ext cx="2782824" cy="822960"/>
          </a:xfrm>
          <a:prstGeom prst="roundRect">
            <a:avLst>
              <a:gd name="adj" fmla="val 6667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5944" y="3931920"/>
            <a:ext cx="2599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window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85944" y="4187952"/>
            <a:ext cx="2599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 → May 29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91728" y="274320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Response     Resolve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91728" y="306324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Severity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91728" y="333756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7.61m  </a:t>
            </a:r>
            <a:r>
              <a:rPr lang="en-US" sz="15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110.2m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91728" y="393192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91728" y="420624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14.17m  </a:t>
            </a:r>
            <a:r>
              <a:rPr lang="en-US" sz="15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5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154.5m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68680" y="53949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protocols function properly — severity dictates response effort — but the staffing model is heavily misaligned with the after-hours threat reality.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 &amp; VULNERABILITY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852160" cy="3657600"/>
          </a:xfrm>
          <a:prstGeom prst="roundRect">
            <a:avLst>
              <a:gd name="adj" fmla="val 2500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Risk Scorecard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Security Risk Score   </a:t>
            </a: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District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8346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5D5D">
              <a:alpha val="20000"/>
            </a:srgbClr>
          </a:solidFill>
          <a:ln w="12700">
            <a:solidFill>
              <a:srgbClr val="FF5D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Corridor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3273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319272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5D5D">
              <a:alpha val="20000"/>
            </a:srgbClr>
          </a:solidFill>
          <a:ln w="12700">
            <a:solidFill>
              <a:srgbClr val="FF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3319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758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758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89120" y="3803904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2428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Reach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42428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428853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288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8680" y="4727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Sector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91840" y="47274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89120" y="477316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8A3D">
              <a:alpha val="20000"/>
            </a:srgbClr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75120" y="1645920"/>
            <a:ext cx="4983480" cy="3657600"/>
          </a:xfrm>
          <a:prstGeom prst="roundRect">
            <a:avLst>
              <a:gd name="adj" fmla="val 2500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9516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Vulnerability Baseline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99516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scores across all 8 asset types, plotted 80 → 90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86600" y="4206240"/>
            <a:ext cx="4206240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27848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69096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610344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36024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451592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77272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1292840" y="4151376"/>
            <a:ext cx="0" cy="109728"/>
          </a:xfrm>
          <a:prstGeom prst="line">
            <a:avLst/>
          </a:prstGeom>
          <a:noFill/>
          <a:ln w="12700">
            <a:solidFill>
              <a:srgbClr val="3238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018520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39605" y="3886200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46" name="Shape 44"/>
          <p:cNvSpPr/>
          <p:nvPr/>
        </p:nvSpPr>
        <p:spPr>
          <a:xfrm>
            <a:off x="9807854" y="3593592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47" name="Shape 45"/>
          <p:cNvSpPr/>
          <p:nvPr/>
        </p:nvSpPr>
        <p:spPr>
          <a:xfrm>
            <a:off x="9934042" y="3886200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18166" y="3593592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02291" y="3886200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86416" y="3593592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51" name="Shape 49"/>
          <p:cNvSpPr/>
          <p:nvPr/>
        </p:nvSpPr>
        <p:spPr>
          <a:xfrm>
            <a:off x="10270541" y="3886200"/>
            <a:ext cx="109728" cy="109728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96728" y="3593592"/>
            <a:ext cx="109728" cy="109728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53" name="Text 51"/>
          <p:cNvSpPr/>
          <p:nvPr/>
        </p:nvSpPr>
        <p:spPr>
          <a:xfrm>
            <a:off x="6995160" y="3154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Office &amp; Data Center — marginally highest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68680" y="54864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is an organization-wide, systemic issue tightly clustered across all 8 asset types — mitigation requires systemic policy changes, not isolated spot-fixes.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 DEMAND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Diagnostic: Resource Allocation Gap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1805940"/>
          </a:xfrm>
          <a:prstGeom prst="rect">
            <a:avLst/>
          </a:prstGeom>
          <a:solidFill>
            <a:srgbClr val="FF5D5D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3497580"/>
            <a:ext cx="3474720" cy="1805940"/>
          </a:xfrm>
          <a:prstGeom prst="rect">
            <a:avLst/>
          </a:prstGeom>
          <a:solidFill>
            <a:srgbClr val="4ADE8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1691640"/>
            <a:ext cx="3474720" cy="1805940"/>
          </a:xfrm>
          <a:prstGeom prst="rect">
            <a:avLst/>
          </a:prstGeom>
          <a:solidFill>
            <a:srgbClr val="22273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497580"/>
            <a:ext cx="3474720" cy="1805940"/>
          </a:xfrm>
          <a:prstGeom prst="rect">
            <a:avLst/>
          </a:prstGeom>
          <a:solidFill>
            <a:srgbClr val="22273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497580"/>
            <a:ext cx="6949440" cy="0"/>
          </a:xfrm>
          <a:prstGeom prst="line">
            <a:avLst/>
          </a:prstGeom>
          <a:noFill/>
          <a:ln w="15875">
            <a:solidFill>
              <a:srgbClr val="3238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691640"/>
            <a:ext cx="0" cy="3611880"/>
          </a:xfrm>
          <a:prstGeom prst="line">
            <a:avLst/>
          </a:prstGeom>
          <a:noFill/>
          <a:ln w="15875">
            <a:solidFill>
              <a:srgbClr val="3238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91640"/>
            <a:ext cx="6949440" cy="3611880"/>
          </a:xfrm>
          <a:prstGeom prst="rect">
            <a:avLst/>
          </a:prstGeom>
          <a:ln w="19050">
            <a:solidFill>
              <a:srgbClr val="3238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outweighs supply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resources relative to demand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2377440"/>
            <a:ext cx="164592" cy="164592"/>
          </a:xfrm>
          <a:prstGeom prst="ellipse">
            <a:avLst/>
          </a:prstGeom>
          <a:solidFill>
            <a:srgbClr val="FF5D5D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2304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(+2.27)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03120" y="2743200"/>
            <a:ext cx="164592" cy="164592"/>
          </a:xfrm>
          <a:prstGeom prst="ellipse">
            <a:avLst/>
          </a:prstGeom>
          <a:solidFill>
            <a:srgbClr val="FF5D5D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2576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(+2.23)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320540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2976" y="42473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Pittsburgh (-1.96)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4732020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46588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(-2.41)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 rot="16200000">
            <a:off x="-1325880" y="33604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(Incident Severity &amp; Volume)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(Allocated Response Resources)  →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1691640"/>
            <a:ext cx="3794760" cy="3611880"/>
          </a:xfrm>
          <a:prstGeom prst="roundRect">
            <a:avLst>
              <a:gd name="adj" fmla="val 253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838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Matrix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8388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(red)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where threat demand exceeds allocated response capacity — under-resourced.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(green)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3657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more allocated resources than current threat demand justifies.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8388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83880" y="4617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difference between demand and supply; larger magnitude = larger mismatch.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54864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is measurably uneven. Operational efficiency requires immediate resource redistribution across these specific city pairs.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Intelligence &amp; Forecasting</a:t>
            </a:r>
            <a:endParaRPr lang="en-US" sz="2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91640"/>
          <a:ext cx="66751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691640"/>
            <a:ext cx="4251960" cy="1600200"/>
          </a:xfrm>
          <a:prstGeom prst="roundRect">
            <a:avLst>
              <a:gd name="adj" fmla="val 5714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(MAE)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2.71 incidents / day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80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forward projection window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06640" y="3429000"/>
            <a:ext cx="4251960" cy="1600200"/>
          </a:xfrm>
          <a:prstGeom prst="roundRect">
            <a:avLst>
              <a:gd name="adj" fmla="val 5714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(14-day horizon)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68096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 widens toward the outer bound of the window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8680" y="544068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band widens explicitly toward the end of the 14-day window — planning decisions should weight near-term forecasted days more heavily than the outer bounds.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 Zones &amp; Influencers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600200" y="2286000"/>
            <a:ext cx="2286000" cy="2286000"/>
          </a:xfrm>
          <a:prstGeom prst="ellipse">
            <a:avLst/>
          </a:prstGeom>
          <a:solidFill>
            <a:srgbClr val="222738"/>
          </a:solidFill>
          <a:ln w="25400">
            <a:solidFill>
              <a:srgbClr val="36E0C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 Zones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9164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Cincinnati · Atlanta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 · Columbus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3749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  </a:t>
            </a:r>
            <a:r>
              <a:rPr lang="en-US" sz="15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86200" y="3429000"/>
            <a:ext cx="2148840" cy="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18288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0848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Category: Environmental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 · medium severity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1.96× likelihood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86200" y="3429000"/>
            <a:ext cx="2148840" cy="1074420"/>
          </a:xfrm>
          <a:prstGeom prst="line">
            <a:avLst/>
          </a:prstGeom>
          <a:noFill/>
          <a:ln w="19050">
            <a:solidFill>
              <a:srgbClr val="32385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37947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794760"/>
            <a:ext cx="5394960" cy="1417320"/>
          </a:xfrm>
          <a:prstGeom prst="roundRect">
            <a:avLst>
              <a:gd name="adj" fmla="val 6452"/>
            </a:avLst>
          </a:prstGeom>
          <a:ln w="25400">
            <a:solidFill>
              <a:srgbClr val="FF5D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Category: Physical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4453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 · medium severity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1.70× likelihood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62356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NOTE   </a:t>
            </a: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incidents are independently flagged by both the Key Influencers model and the Security Weakness module — a highly validated signal for intervention.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Synthesis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Defies Volume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 concentrates geographically in Ohio and Georgia, but composite risk is driven entirely by severity in Cincinnati and Savannah. A volume-only staffing model fails.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11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Responses, Shifting Threats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 is remarkably uniform (10.0–10.8 min) regardless of geography. However, environmental incidents grew 8.1% in the second half of the period.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011680"/>
            <a:ext cx="502920" cy="50292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764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Silent Backlog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6488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 of all incidents (316 total) remain open. This is not a throughput failure — SLA compliance stays high at 89.76% — but an investigation and escalation bottleneck.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6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ABOUT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Tactical Rebalance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response resources from Columbus and Pittsburgh to Atlanta and Philadelphia based on identified gap scores. Rebalance daily shift schedules to cover the after-hours threat dominance.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2584" y="2011680"/>
            <a:ext cx="502920" cy="50292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Threat Mitigation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physical security interventions specifically within the Critical-band Northern District and Eastern Corridor regions.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483864" cy="3611880"/>
          </a:xfrm>
          <a:prstGeom prst="roundRect">
            <a:avLst>
              <a:gd name="adj" fmla="val 2625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011680"/>
            <a:ext cx="502920" cy="502920"/>
          </a:xfrm>
          <a:prstGeom prst="ellipse">
            <a:avLst/>
          </a:prstGeom>
          <a:solidFill>
            <a:srgbClr val="36E0C4"/>
          </a:solidFill>
          <a:ln/>
        </p:spPr>
      </p:sp>
      <p:sp>
        <p:nvSpPr>
          <p:cNvPr id="18" name="Text 16"/>
          <p:cNvSpPr/>
          <p:nvPr/>
        </p:nvSpPr>
        <p:spPr>
          <a:xfrm>
            <a:off x="84764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2743200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6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Operational KPIs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6488" y="3566160"/>
            <a:ext cx="2843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316-incident open backlog as a standing operational metric. Revise the city-level risk banding logic so it stops reading 10 of 10 cities as “High Risk.”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-365760" y="3474720"/>
            <a:ext cx="4754880" cy="4754880"/>
          </a:xfrm>
          <a:prstGeom prst="ellipse">
            <a:avLst/>
          </a:prstGeom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114800"/>
            <a:ext cx="3474720" cy="3474720"/>
          </a:xfrm>
          <a:prstGeom prst="ellipse">
            <a:avLst/>
          </a:prstGeom>
          <a:ln w="12700">
            <a:solidFill>
              <a:srgbClr val="36E0C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754880"/>
            <a:ext cx="2194560" cy="2194560"/>
          </a:xfrm>
          <a:prstGeom prst="ellipse">
            <a:avLst/>
          </a:prstGeom>
          <a:ln w="12700">
            <a:solidFill>
              <a:srgbClr val="FF8A3D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DATA TO STRATEGIC FORESIGHT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9418320" cy="1554480"/>
          </a:xfrm>
          <a:prstGeom prst="roundRect">
            <a:avLst>
              <a:gd name="adj" fmla="val 5882"/>
            </a:avLst>
          </a:prstGeom>
          <a:solidFill>
            <a:srgbClr val="1B1F2B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24688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unstandardized, siloed data feeds have been transformed into an executive-ready, predictive analytical framework — achieving a validated 2.71 MAE forecast accuracy.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4343400"/>
            <a:ext cx="9418320" cy="1417320"/>
          </a:xfrm>
          <a:prstGeom prst="roundRect">
            <a:avLst>
              <a:gd name="adj" fmla="val 6452"/>
            </a:avLst>
          </a:prstGeom>
          <a:solidFill>
            <a:srgbClr val="222738"/>
          </a:solidFill>
          <a:ln w="12700">
            <a:solidFill>
              <a:srgbClr val="3238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4343400"/>
            <a:ext cx="8686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6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 can now proactively allocate resources based on forecasted severity — rather than reacting retrospectively to raw incident volume.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1198</Words>
  <Application>Microsoft Office PowerPoint</Application>
  <PresentationFormat>Widescreen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Piyush Bande</dc:creator>
  <cp:lastModifiedBy>piyush bande</cp:lastModifiedBy>
  <cp:revision>2</cp:revision>
  <dcterms:created xsi:type="dcterms:W3CDTF">2026-08-23T09:02:55Z</dcterms:created>
  <dcterms:modified xsi:type="dcterms:W3CDTF">2026-08-23T09:15:35Z</dcterms:modified>
</cp:coreProperties>
</file>